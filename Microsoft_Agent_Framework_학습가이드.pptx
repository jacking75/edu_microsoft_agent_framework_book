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3" autoAdjust="0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150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1063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초보자를 위한 친절한 학습 가이드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C# &amp; VSCode 환경에서 OpenRouter / Poe API로 AI Agent 만들기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260604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73152" cy="1463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11개 챕터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474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설정부터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프로덕션 배포까지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606040"/>
            <a:ext cx="260604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291840" y="2606040"/>
            <a:ext cx="73152" cy="1463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520440" y="2743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520440" y="3154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실전 예제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20440" y="3474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RAG, 자동화,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Multi-Agent 워크플로우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606040"/>
            <a:ext cx="260604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035040" y="2606040"/>
            <a:ext cx="73152" cy="1463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263640" y="27432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63640" y="31546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공급자 독립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3474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OpenRouter, Poe,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자유 전환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최흥배, Claude AI  |  최종 업데이트 2026-05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학습 가이드가 다루는 것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초보자가 최단 경로로 Agent를 만들도록 안내한다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Agent의 개념 이해 - LLM 기반 자율 의사결정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전통적 프로그램과 무엇이 다른지, 왜 Agent가 필요한지 알 수 있다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실전 사용법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Semantic Kernel + AutoGen 통합 프레임워크의 핵심 기능을 다룬다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OpenRouter / Poe / Ollama 등 공급자 독립 구성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Azure 의존 없이 .env 파일 한 줄만 바꿔 LLM을 전환한다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RAG, 업무 자동화, Multi-Agent 워크플로우 실전 예제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자료의 코드는 그대로 복사하여 실행할 수 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자료의 학습 대상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초보자도 따라올 수 있도록 친절하게 설명한다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402336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4023360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9436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분께 추천한다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Agent를 처음 접하는 개발자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Azure 없이 OpenRouter/Poe로 시작하고 싶은 사람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C# 또는 .NET 환경에 익숙한 개발자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RAG, 자동화 도구 등 실용적 결과물을 원하는 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프로덕션까지 가능한 학습 경로가 필요한 사람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402336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402336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80060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정도만 알면 충분하다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C# 기본 문법 (변수, 클래스, async/await)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터미널 / 명령 프롬프트 사용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변수 개념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형태에 대한 일반적 이해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API 호출 경험은 있으면 좋지만 필수는 아님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환경 한눈에 보기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자료의 모든 예제는 아래 환경에서 동작한다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28803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권장 사항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.NET SDK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.NET 10 (8.0+ 가능)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dotnet --version 으로 확인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에디터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Visual Studio Code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C# Dev Kit 확장 설치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LLM 공급자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OpenRouter (권장) / Poe / Ollama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OpenAI 호환 API 사용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주요 패키지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Microsoft.Agents.AI / .OpenAI / DotNetEnv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NuGet으로 설치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환경 변수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LLM_API_KEY / LLM_BASE_URL / LLM_MODEL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.env 파일 권장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운영체제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Windows / macOS / Linux 모두 가능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PowerShell, bash 모두 안내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학습 흐름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→ 복잡 순서로 단계적으로 익힌다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508760" cy="1280160"/>
          </a:xfrm>
          <a:prstGeom prst="rect">
            <a:avLst/>
          </a:prstGeom>
          <a:solidFill>
            <a:srgbClr val="F8FAFC"/>
          </a:solidFill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준비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651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.NET, VSCode, API 키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84248" y="2331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67128" y="1828800"/>
            <a:ext cx="1508760" cy="1280160"/>
          </a:xfrm>
          <a:prstGeom prst="rect">
            <a:avLst/>
          </a:prstGeom>
          <a:solidFill>
            <a:srgbClr val="F8FAFC"/>
          </a:solidFill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167128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67128" y="2331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개념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67128" y="2651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/ Tool / Thread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94176" y="2331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877056" y="1828800"/>
            <a:ext cx="1508760" cy="1280160"/>
          </a:xfrm>
          <a:prstGeom prst="rect">
            <a:avLst/>
          </a:prstGeom>
          <a:solidFill>
            <a:srgbClr val="F8FAFC"/>
          </a:solidFill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877056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77056" y="2331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실전 코드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77056" y="2651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+ Tools + Thread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04104" y="2331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586984" y="1828800"/>
            <a:ext cx="1508760" cy="1280160"/>
          </a:xfrm>
          <a:prstGeom prst="rect">
            <a:avLst/>
          </a:prstGeom>
          <a:solidFill>
            <a:srgbClr val="F8FAFC"/>
          </a:solidFill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586984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86984" y="2331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응용 프로젝트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86984" y="2651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/ 자동화 / Multi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114032" y="2331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296912" y="1828800"/>
            <a:ext cx="1508760" cy="1280160"/>
          </a:xfrm>
          <a:prstGeom prst="rect">
            <a:avLst/>
          </a:prstGeom>
          <a:solidFill>
            <a:srgbClr val="F8FAFC"/>
          </a:solidFill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296912" y="196596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296912" y="23317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프로덕션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96912" y="26517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로깅 · 보안 · 배포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단계는 이전 단계의 코드를 그대로 이어 받아 발전시킨다.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시간이 부족하다면 1~5장 후 7~8장 실전 프로젝트만 빠르게 따라가도 좋다.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 (1/2) - 기초와 핵심 사용법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1장부터 6장까지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64008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1389888"/>
            <a:ext cx="7498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시작하기 전에 - 환경 준비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161848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.NET, VSCode, OpenRouter/Poe API 키, 프로젝트 초기 설정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64008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1874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1892808"/>
            <a:ext cx="7498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Framework 핵심 개념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12140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Agent란, 아키텍처, LLM 모델 비교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64008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2395728"/>
            <a:ext cx="7498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번째 Agent 만들기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262432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AIAgentBuilder, 환경 변수 관리, 대화형 프로그램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880360"/>
            <a:ext cx="64008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7200" y="2880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2898648"/>
            <a:ext cx="7498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Agent에 기능 추가하기 - Tools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12724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Function Tools, Tool 구현, 외부 API 연동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383280"/>
            <a:ext cx="64008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57200" y="3383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3401568"/>
            <a:ext cx="7498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흐름 관리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363016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Multi-turn, Thread, Context Provider, 세션 관리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886200"/>
            <a:ext cx="64008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57200" y="38862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88720" y="3904488"/>
            <a:ext cx="7498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고급 기능 활용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88720" y="4133088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Streaming, Extended Thinking, Middleware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목차 (2/2) - 실전과 프로덕션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7장부터 11장까지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6400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14538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실전 프로젝트 1 - 문서 질의응답 Agent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16916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패턴, PDF 파싱, 출처 명시 답변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6400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5720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00253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실전 프로젝트 2 - 업무 자동화 Agent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2402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관리, CSV 분석, 보고서 생성, 시스템 자동화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6400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251460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255117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Multi-Agent Workflow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278892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전문화 Agent, 순차/병렬/조건부 오케스트레이션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063240"/>
            <a:ext cx="6400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7200" y="30632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09981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프로덕션 준비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33756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로깅, 재시도, 보안, 캐싱, Docker 배포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6400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57200" y="3611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364845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고급 주제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388620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 서버, 모델 전환 전략, Ollama 로컬 실행, 실전 팁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6400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93192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시작하기 전에 - 환경 준비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931920" y="260604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Framework로 AI 에이전트를 개발하기 위한 환경을 준비한다.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.NET SDK 설치, VSCode 설정, OpenRouter / Poe API 키 발급, 환경 변수 구성, 첫 프로젝트 빌드까지 한 번에 정리한다.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Azure에 의존하지 않고 OpenAI 호환 API만으로 시작할 수 있다는 점이 핵심이다.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94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1.1 .NET SDK 설치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 .NET 8.0 이상, 권장은 .NET 10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4297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.NET이 필요한가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Framework는 .NET 라이브러리이므로 .NET SDK가 있어야 빌드/실행할 수 있다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방법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https://dotnet.microsoft.com/download 에서 .NET 10 SDK 내려받기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확인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터미널에서 dotnet --version 명령으로 버전을 확인한다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3840480" cy="14630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956048" y="1444752"/>
            <a:ext cx="362102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설치 확인 (PowerShell / bash)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--version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출력 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10.0.xxx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3017520"/>
            <a:ext cx="3840480" cy="146304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8348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33832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8.0 이상이면 동작은 하지만, 10.0을 권장한다. 최신 LTS는 성능과 안정성이 뛰어나며 새 라이브러리 호환성이 높다.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 VSCode와 C# Dev Kit 설치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에디터 환경을 통일하면 학습이 수월하다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Visual Studio Code 설치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https://code.visualstudio.com/ 에서 자신의 OS에 맞는 버전 다운로드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시 'Add to PATH'와 '지원 파일 형식의 기본 에디터로 등록' 옵션을 켜둔다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C# Dev Kit 확장 설치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VSCode 실행 → Ctrl+Shift+X로 확장 패널 → 'C# Dev Kit' 검색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공식 확장을 설치한다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VSCode여야 하나?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필수는 아니다. JetBrains Rider, Visual Studio도 사용 가능하다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1.3 LLM API 키 준비 - OpenRouter vs Poe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OpenAI 호환 API를 제공하는 두 서비스 중 하나를 선택한다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4023360" cy="3108960"/>
          </a:xfrm>
          <a:prstGeom prst="rect">
            <a:avLst/>
          </a:prstGeom>
          <a:solidFill>
            <a:srgbClr val="F8FAFC"/>
          </a:solidFill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4023360" cy="502920"/>
          </a:xfrm>
          <a:prstGeom prst="rect">
            <a:avLst/>
          </a:prstGeom>
          <a:solidFill>
            <a:srgbClr val="1E40A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OpenRouter (권장)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다양한 모델을 단일 API로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423160"/>
            <a:ext cx="3657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 / GPT / Gemini 한 번에 사용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사용량 기반 종량제 (선불 충전)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Base URL: https://openrouter.ai/api/v1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 모델: anthropic/claude-sonnet-4-5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Keys 메뉴에서 키 발급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402336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663440" y="1463040"/>
            <a:ext cx="4023360" cy="502920"/>
          </a:xfrm>
          <a:prstGeom prst="rect">
            <a:avLst/>
          </a:prstGeom>
          <a:solidFill>
            <a:srgbClr val="6B728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84632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유료 구독 사용자에게 유리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2423160"/>
            <a:ext cx="3657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Quora가 운영하는 LLM 통합 서비스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구독 + API 사용량 포함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Base URL: https://api.poe.com/llm/v1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 모델: claude-sonnet-4-20250514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Settings → API Key 에서 발급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1.4 환경 변수 구성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바꾸지 않고 LLM 공급자를 전환하기 위한 핵심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4630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변수명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LLM_API_KEY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OpenRouter / Poe에서 발급받은 API 키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LLM_BASE_URL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권장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엔드포인트 URL (예: https://openrouter.ai/api/v1)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LLM_MODEL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권장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사용할 모델 ID (예: anthropic/claude-sonnet-4-5)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3017520"/>
            <a:ext cx="4023360" cy="15544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566928" y="3090672"/>
            <a:ext cx="380390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 PowerShell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$env:LLM_API_KEY="sk-or-..."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$env:LLM_BASE_URL="https://openrouter.ai/api/v1"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$env:LLM_MODEL="anthropic/claude-sonnet-4-5"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3017520"/>
            <a:ext cx="4023360" cy="15544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10"/>
          <p:cNvSpPr/>
          <p:nvPr/>
        </p:nvSpPr>
        <p:spPr>
          <a:xfrm>
            <a:off x="4773168" y="3090672"/>
            <a:ext cx="380390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 / Linux (bash, zsh)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LLM_API_KEY="sk-or-..."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LLM_BASE_URL="https://openrouter.ai/api/v1"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LLM_MODEL="anthropic/claude-sonnet-4-5"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1.5 첫 프로젝트 만들기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콘솔 앱을 생성하고 필수 패키지를 설치한다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new console -o MyFirstAgent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MyFirstAgent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add package Microsoft.Agents.AI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add package Microsoft.Agents.AI.OpenAI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add package DotNetEnv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.env 파일을 프로젝트 루트에 만든다 (.gitignore에 반드시 추가)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8229600" cy="12801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66928" y="3319272"/>
            <a:ext cx="801014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LLM_API_KEY=sk-or-your-openrouter-key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LLM_BASE_URL=https://openrouter.ai/api/v1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LLM_MODEL=anthropic/claude-sonnet-4-5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1.6 환경 확인 테스트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Program.cs에 아래 코드를 작성하고 dotnet run 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DotNetEnv;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Env.Load();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apiKey  = Environment.GetEnvironmentVariable("LLM_API_KEY");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baseUrl = Environment.GetEnvironmentVariable("LLM_BASE_URL")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?? "https://openrouter.ai/api/v1";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model   = Environment.GetEnvironmentVariable("LLM_MODEL")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?? "anthropic/claude-sonnet-4-5";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(string.IsNullOrEmpty(apiKey))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Console.WriteLine("LLM_API_KEY 환경 변수가 없다. .env 파일을 확인하라.");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Console.WriteLine($"API 키 OK   : {apiKey[..8]}...");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Console.WriteLine($"Base URL OK : {baseUrl}");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Console.WriteLine($"모델 OK     : {model}");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Console.WriteLine($".NET 버전   : {Environment.Version}");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Console.WriteLine("환경 준비 완료!");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1장 체크리스트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여기까지 모두 통과했다면 다음 장으로 넘어가도 좋다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1426464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1426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14173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dotnet --version 으로 SDK 버전 확인 (8.0 이상)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1929384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1929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19202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VSCode + C# Dev Kit 설치 완료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432304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" y="2432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4231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OpenRouter 또는 Poe API 키 발급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935224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8640" y="2935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29260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LLM_API_KEY / LLM_BASE_URL / LLM_MODEL 환경 변수 설정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438144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8640" y="34381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429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dotnet new console + 패키지 3종 설치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941064"/>
            <a:ext cx="274320" cy="2743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48640" y="3941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5840" y="3931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확인 프로그램이 '환경 준비 완료!'를 출력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6400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93192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Framework 핵심 개념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931920" y="260604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작성하기 전에 AI Agent의 본질과 Microsoft Agent Framework의 구조를 이해한다.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에이전트가 어떻게 도구를 선택하고 호출하는지, Thread는 무엇이며 Workflow는 언제 사용하는지 익힌다.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장의 개념을 잡아두면 이후 장의 코드가 훨씬 명확하게 보인다.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/ 94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2.1 AI Agent란 무엇인가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단순한 챗봇이 아니라 '스스로 도구를 사용하는' 시스템이다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Agent의 5가지 특징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1627632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1627632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19476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자율성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3317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목표만 주면 단계는 스스로 결정한다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48840" y="1783080"/>
            <a:ext cx="1627632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148840" y="1783080"/>
            <a:ext cx="1627632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240280" y="19476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사용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40280" y="23317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함수와 API를 직접 호출한다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0" y="1783080"/>
            <a:ext cx="1627632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840480" y="1783080"/>
            <a:ext cx="1627632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931920" y="19476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23317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LLM으로 복잡한 문제를 분석한다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32120" y="1783080"/>
            <a:ext cx="1627632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532120" y="1783080"/>
            <a:ext cx="1627632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623560" y="19476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시도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23560" y="23317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실패하면 다른 방법을 시도한다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23760" y="1783080"/>
            <a:ext cx="1627632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7223760" y="1783080"/>
            <a:ext cx="1627632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315200" y="19476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기반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15200" y="23317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자연어로 요구사항을 받고 결과를 전한다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결론: 알고리즘을 사람이 일일이 짜기 어려운 작업에 적합하다.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프로그래머는 '함수'와 '목표'만 제공하고, 실행 순서는 LLM이 결정한다.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2.2 전통적인 프로그램 vs AI Agent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일을 하는 두 코드를 비교해 본다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402336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4023360" cy="3657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9436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전통적인 프로그램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1783080"/>
            <a:ext cx="3749040" cy="16916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04088" y="1856232"/>
            <a:ext cx="35295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GetWeatherReport(string city)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w = WeatherAPI.GetWeather(city);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$"{city}의 날씨는 {w.Condition}이고 " +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$"기온은 {w.Temperature}도다.";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5204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정한 단계만 정확히 수행한다. 예외 상황을 코드로 일일이 처리해야 한다.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4023360" cy="3200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4023360" cy="3657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800600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Agent 방식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1783080"/>
            <a:ext cx="3749040" cy="16916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910328" y="1856232"/>
            <a:ext cx="35295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agent = AIAgentBuilder.FromEnvironment()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.Build("WeatherAgent",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"도시의 날씨를 조회해 알려준다.",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Delegate[] { GetWeather });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agent.RunAsync("서울 날씨 어때?");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35204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Agent가 알아서 GetWeather를 호출하고 자연어로 응답을 만든다.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 LLM의 의사결정 흐름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Agent가 한 번 호출되면 내부에서 일어나는 단계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132588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57200" y="16002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8288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입력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12140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질문/요청 수신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0" y="1554480"/>
            <a:ext cx="132588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1828800" y="16002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74520" y="18288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분석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74520" y="212140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의도 파악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1554480"/>
            <a:ext cx="132588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200400" y="16002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18288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필요?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212140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Yes / No 판단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0" y="1554480"/>
            <a:ext cx="132588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572000" y="16002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7720" y="18288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실행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212140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호출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0" y="1554480"/>
            <a:ext cx="132588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5943600" y="16002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9320" y="18288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재해석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89320" y="212140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정리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0" y="1554480"/>
            <a:ext cx="1325880" cy="914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7315200" y="16002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60920" y="182880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생성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60920" y="2121408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사용자에게 답변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도구가 필요 없으면 4·5단계를 건너뛰고 바로 응답한다.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단계마다 LLM이 결정한다 - 개발자가 분기 코드를 짤 필요가 없다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실패한 도구 호출은 LLM이 자동으로 다른 방식을 시도한다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도구를 연속해서 호출해야 하는 작업도 LLM이 알아서 순서를 잡는다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 Tool Calling - LLM이 함수를 부르는 방식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함수의 이름, 설명, 파라미터를 LLM이 읽는다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5120640" cy="210312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490118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GetWeather(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location,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unit = "celsius")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$"{location}의 기온은 20{unit}다.";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agent = AIAgentBuilder.FromEnvironment()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.Build("WeatherAgent",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"날씨를 알려주는 에이전트다.",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new Delegate[] { GetWeather });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760720" y="1371600"/>
            <a:ext cx="292608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85216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보는 정보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7880" y="1691640"/>
            <a:ext cx="2697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이름: GetWeather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역할: 날씨 조회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필수: location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선택: unit (기본 celsius)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반환: 문자열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핵심: 개발자는 함수만 제공하고, 언제 호출할지는 LLM이 결정한다.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그러므로 함수 이름과 XML 주석을 명확하게 적어두는 것이 가장 중요한 작업이다.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2.5 Microsoft Agent Framework 아키텍처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Semantic Kernel + AutoGen + Workflow의 통합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52704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Application Layer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8013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만드는 Agent 애플리케이션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21408"/>
            <a:ext cx="8229600" cy="1005840"/>
          </a:xfrm>
          <a:prstGeom prst="rect">
            <a:avLst/>
          </a:prstGeom>
          <a:solidFill>
            <a:srgbClr val="1E40A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23113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Framework 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505456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· Workflow · Thread · Tools · Middleware · Context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191256"/>
            <a:ext cx="8229600" cy="640080"/>
          </a:xfrm>
          <a:prstGeom prst="rect">
            <a:avLst/>
          </a:prstGeom>
          <a:solidFill>
            <a:srgbClr val="0891B2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330098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Microsoft.Agents.AI.OpenAI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5753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OpenAIAgentClient → AIAgent → Run/RunStream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95344"/>
            <a:ext cx="8229600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40050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Model Provider Layer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2793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OpenRouter · Poe · Ollama · 어떤 OpenAI 호환 API든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2.6 핵심 컴포넌트 6가지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요소의 역할을 한 줄로 정리한다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40233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73152" cy="9601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1783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LLM과 상호작용하는 메인 객체. 입력을 받아 응답을 만든다.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371600"/>
            <a:ext cx="40233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617720" y="1371600"/>
            <a:ext cx="73152" cy="9601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80060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17830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대화의 상태(이전 메시지) 컨테이너. 멀티턴 대화의 핵심.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23160"/>
            <a:ext cx="40233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2423160"/>
            <a:ext cx="73152" cy="9601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Tools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2834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Agent가 호출할 수 있는 함수들. 실제 작업을 수행한다.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2423160"/>
            <a:ext cx="40233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617720" y="2423160"/>
            <a:ext cx="73152" cy="9601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800600" y="2514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Context Provider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00600" y="2834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 메모리/사용자 프로필 등 추가 컨텍스트 공급.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40233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57200" y="3474720"/>
            <a:ext cx="73152" cy="9601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40080" y="3566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Middleware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3886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요청·응답을 가로채 로깅·필터링·인증 등을 처리.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3474720"/>
            <a:ext cx="40233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617720" y="3474720"/>
            <a:ext cx="73152" cy="9601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800600" y="3566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Workflow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00600" y="38862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Agent와 함수를 연결하는 명시적 오케스트레이션.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2.7 데이터 흐름 - 한 번의 RunAsync 호출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사용자: '서울 날씨 알려줘' 라고 했을 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274320" cy="27432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40817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메시지가 Agent로 전달된다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801368"/>
            <a:ext cx="274320" cy="27432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48640" y="1801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179222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Thread에 메시지 저장 (있다면)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185416"/>
            <a:ext cx="274320" cy="27432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48640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17627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사용자 메시지 + 도구 정보를 받는다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2569464"/>
            <a:ext cx="274320" cy="27432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48640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5603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LLM: GetWeather('서울') 호출이 필요하다고 판단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953512"/>
            <a:ext cx="274320" cy="27432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48640" y="2953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29443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Agent가 GetWeather 함수 실행 → '20도, 맑음'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337560"/>
            <a:ext cx="274320" cy="27432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4864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32841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 결과를 다시 LLM에 전달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721608"/>
            <a:ext cx="274320" cy="27432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48640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371246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자연어 응답 작성: '서울은 현재 맑고 20도다.'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105656"/>
            <a:ext cx="274320" cy="27432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48640" y="4105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0120" y="409651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Thread에 응답 저장 후 사용자에게 반환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2.8 LLM 모델 비교 (OpenRouter 기준)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용도에 맞춰 선택하면 비용을 크게 줄일 수 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5603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특징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권장 용도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anthropic/claude-haiku-4-5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빠르고 저렴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간단한 질의, 대량 처리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anthropic/claude-sonnet-4-5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균형잡힌 성능 (권장)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대부분의 작업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anthropic/claude-opus-4-5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최고 품질, 고비용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복잡한 추론, 분석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openai/gpt-4o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코딩에 강함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범용, 코드 생성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openai/gpt-4o-mini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저렴한 범용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비용 절약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google/gemini-2.0-flash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빠른 멀티모달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이미지 처리 등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2.9 Extended Thinking &amp; 토큰 비용 절약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Claude의 '추론' 기능과 한국어 사용 시 주의점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4023360" cy="320040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Extended Thinking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문제에서 정확도 향상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 과정의 투명성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가능성 감소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비용 증가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속도 느려짐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간단한 질의에는 불필요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02336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비용 최적화 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82880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용도별로 모델을 다르게 선택한다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프롬프트는 간결하게, 불필요한 정보 제거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길이는 max_tokens로 제한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요청은 캐싱한다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작업은 배치로 묶는다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한국어는 영어 대비 2~3배 토큰 소비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2장 핵심 정리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장에서 꼭 가지고 가야 할 한 줄 요약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73152" cy="5029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481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Agent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148132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자율적으로 도구를 선택·사용하는 LLM 기반 시스템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2011680"/>
            <a:ext cx="73152" cy="5029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0756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Tool Calling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20756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함수만 등록하면 LLM이 호출 시점을 결정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2606040"/>
            <a:ext cx="73152" cy="5029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2670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Framework 구조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26080" y="267004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· Thread · Tools · Workflow의 6대 컴포넌트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73152" cy="5029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40080" y="32644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선택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926080" y="326440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Sonnet이 기본, 단순 작업은 Haiku, 복잡 작업은 Opus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57200" y="3794760"/>
            <a:ext cx="73152" cy="5029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40080" y="38587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의식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926080" y="38587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한국어는 토큰 소비가 크니 모델·캐싱·길이 제한 활용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6400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93192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번째 Agent 만들기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931920" y="260604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이론은 충분하다. 이제 실제 코드를 작성한다.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공급자가 바뀌어도 코드는 거의 그대로인 'AIAgentBuilder' 패턴을 도입하고, 단일 응답 → 멀티턴 대화 → 에러 처리까지 단계적으로 만들어 본다.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.env 파일 한 줄 변경으로 OpenRouter ↔ Poe 전환이 가능한 구조가 목표다.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 / 94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AIAgentBuilder 패턴 - 왜 필요한가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공급자 종속을 피하기 위한 얇은 추상화 계층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Build() 이후 코드는 어떤 LLM이든 동일하다.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8229600" cy="2743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66928" y="1764792"/>
            <a:ext cx="801014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(1) OpenRouter 사용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agent = AIAgentBuilder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.WithOpenRouter(apiKey, "anthropic/claude-sonnet-4-5")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.Build("MyAgent", "당신은 도움이 되는 어시스턴트다.");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(2) Poe 사용 (Build 코드 동일)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agent = AIAgentBuilder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.WithPoe(apiKey, "claude-sonnet-4-20250514")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.Build("MyAgent", "당신은 도움이 되는 어시스턴트다.");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(3) 환경 변수 자동 로딩 (가장 권장)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agent = AIAgentBuilder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.FromEnvironment()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.Build("MyAgent", "당신은 도움이 되는 어시스턴트다.");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가장 단순한 Agent 실행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Program.cs에 작성하고 dotnet run 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DotNetEnv;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AgentFrameworkBook.Shared;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Env.Load();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agent = AIAgentBuilder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.FromEnvironment()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name: "HelloAgent",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instructions: "친절하고 간결하게 답변하는 어시스턴트다."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result = await agent.RunAsync("안녕하세요! 당신은 누구인가요?");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Console.WriteLine("Agent: " + result.Text);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대화형(멀티턴) Agent 만들기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Thread를 사용하면 이전 메시지를 자동으로 기억한다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agent = AIAgentBuilder.FromEnvironment()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.Build("ChatAgent", "사용자와 자연스럽게 대화한다.");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thread = agent.CreateThread();   // 대화 컨텍스트 컨테이너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(true)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Console.Write("사용자: 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input = Console.ReadLine();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(string.IsNullOrWhiteSpace(input) || input == "quit") break;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result = await agent.RunAsync(input, thread);  // thread 같이 전달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Console.WriteLine("Agent : " + result.Text);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RunAsync vs RunStreamAsync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응답이 길수록 스트리밍이 유리하다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402336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RunAsync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응답이 완성된 후 통째로 반환한다. 짧은 응답에 적합하다.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331720"/>
            <a:ext cx="3657600" cy="20116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49808" y="2404872"/>
            <a:ext cx="343814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result = await agent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.RunAsync("질문");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Console.WriteLine(result.Text);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4023360" cy="310896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RunStreamAsync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청크 단위로 실시간 출력한다. 사용자 경험이 훨씬 좋다.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331720"/>
            <a:ext cx="3657600" cy="20116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956048" y="2404872"/>
            <a:ext cx="3438144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foreach (var c in agent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.RunStreamAsync("질문"))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Console.Write(c.Text);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3.5 API 키 보안 - 절대 하드코딩 금지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초보자가 가장 자주 저지르는 실수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463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하지 말 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1783080"/>
            <a:ext cx="7863840" cy="73152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49808" y="1856232"/>
            <a:ext cx="7644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apiKey = "sk-or-실제키-1234abcd";  // 절대 안 됨! git push 시 유출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8229600" cy="178308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권장 방법 - .env + 환경 변수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200400"/>
            <a:ext cx="7863840" cy="12801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49808" y="3273552"/>
            <a:ext cx="76443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.env 파일 (.gitignore에 반드시 추가!)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LLM_API_KEY=sk-or-...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Env.Load();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agent = AIAgentBuilder.FromEnvironment().Build("Agent", "...");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3.6 자주 만나는 오류와 처리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초기에 마주치는 4가지를 미리 잡아둔다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057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오류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해결책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InvalidOperationException: LLM_API_KEY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API 키 미설정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.env 또는 환경 변수에 키 추가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HTTP 401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API 키 잘못됨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키 재발급 또는 오타 확인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HTTP 429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Rate Limit 초과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잠시 후 재시도 / Tier 상향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HTTP 404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잘못된 Base URL/모델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BASE_URL과 MODEL 다시 확인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장에서는 실제 try-catch 코드와 안내 메시지를 만들어 본다.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6400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93192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Agent에 기능 추가하기 - Tools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931920" y="260604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Tools(도구)를 등록하면 Agent가 외부 함수와 API를 직접 사용할 수 있게 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여기서는 Function Tools 개념부터 단일/멀티 도구, 외부 API 연동, 캐싱까지 다룬다.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시그니처와 XML 주석이 LLM에게는 '사용 설명서'라는 점을 잊지 말 것.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 / 94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4.1 Tool Calling 동작 흐름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사용자: '서울 날씨 알려줘'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40080" y="1481328"/>
            <a:ext cx="292608" cy="29260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14630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Agent가 사용자 메시지 + 도구 목록을 LLM에 전달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40080" y="1984248"/>
            <a:ext cx="292608" cy="29260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1984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196596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GetWeather 함수가 필요하다고 판단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40080" y="2487168"/>
            <a:ext cx="292608" cy="29260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24688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Agent가 GetWeather('서울') 실행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40080" y="2990088"/>
            <a:ext cx="292608" cy="29260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40080" y="2990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29718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'맑음, 22도'를 다시 LLM에 전달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640080" y="3493008"/>
            <a:ext cx="292608" cy="29260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40080" y="3493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3474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자연어 응답 작성: '서울은 맑고 22도입니다'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40080" y="3995928"/>
            <a:ext cx="292608" cy="29260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40080" y="3995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" y="3977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답변 사용자에게 반환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개발자는 함수만 제공하고, 호출 여부와 시점은 LLM이 결정한다.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4.2 Tool 함수 정의 - 다양한 형태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동기/비동기 / 파라미터 유무 모두 가능하다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파라미터 없는 단순 함수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GetCurrentTime()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=&gt; DateTime.Now.ToString("yyyy-MM-dd HH:mm:ss");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파라미터가 있는 함수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GetWeather(string city)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=&gt; $"{city}의 날씨: 맑음, 22도";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선택 파라미터 (기본값)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GetWeatherWithUnit(string city, string unit = "celsius")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=&gt; $"{city}: 22{(unit == "fahrenheit" ? "°F" : "°C")}";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비동기 함수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Task&lt;string&gt; GetRealWeather(string city)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=&gt; await httpClient.GetStringAsync($"...{city}...");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4.3 XML 주석은 LLM에게 사용 설명서다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LLM은 함수 이름·설명·파라미터로 호출 여부를 판단한다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/// &lt;summary&gt;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/// 지정된 도시의 현재 날씨 정보를 조회한다.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/// &lt;/summary&gt;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/// &lt;param name="city"&gt;날씨를 조회할 도시 이름 (예: 서울, 부산, 제주)&lt;/param&gt;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/// &lt;param name="unit"&gt;온도 단위 - "celsius" (기본값) 또는 "fahrenheit"&lt;/param&gt;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/// &lt;returns&gt;날씨 정보 문자열&lt;/returns&gt;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GetWeather(string city, string unit = "celsius")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구현 */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137660"/>
            <a:ext cx="822960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dirty="0"/>
              <a:t>실제 구현 시에는 </a:t>
            </a:r>
            <a:r>
              <a:rPr lang="en-US" altLang="ko-KR" sz="1200" dirty="0"/>
              <a:t>XML </a:t>
            </a:r>
            <a:r>
              <a:rPr lang="ko-KR" altLang="en-US" sz="1200" dirty="0"/>
              <a:t>주석과 함께 </a:t>
            </a:r>
            <a:r>
              <a:rPr lang="en-US" altLang="ko-KR" sz="1200" dirty="0"/>
              <a:t>[Description] </a:t>
            </a:r>
            <a:r>
              <a:rPr lang="ko-KR" altLang="en-US" sz="1200" dirty="0" err="1"/>
              <a:t>어트리뷰트를</a:t>
            </a:r>
            <a:r>
              <a:rPr lang="ko-KR" altLang="en-US" sz="1200" dirty="0"/>
              <a:t> 반드시 병행해야 한다</a:t>
            </a:r>
            <a:r>
              <a:rPr lang="en-US" altLang="ko-KR" sz="1200" dirty="0"/>
              <a:t>. XML </a:t>
            </a:r>
            <a:r>
              <a:rPr lang="ko-KR" altLang="en-US" sz="1200" dirty="0"/>
              <a:t>주석만으로는 </a:t>
            </a:r>
            <a:r>
              <a:rPr lang="en-US" altLang="ko-KR" sz="1200" dirty="0"/>
              <a:t>LLM</a:t>
            </a:r>
            <a:r>
              <a:rPr lang="ko-KR" altLang="en-US" sz="1200" dirty="0"/>
              <a:t>에 전달되지 않는다</a:t>
            </a:r>
            <a:r>
              <a:rPr lang="en-US" altLang="ko-KR" sz="1200" dirty="0"/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4.4 단일 Tool 등록 - 날씨 조회 Agent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tools 인자에 Delegate 배열로 전달한다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GetWeather(string city)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conditions = new[] { "맑음", "흐림", "비", "눈" };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t = new Random().Next(-5, 35);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$"{city}: {conditions[Random.Shared.Next(conditions.Length)]}, {t}도";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agent = AIAgentBuilder.FromEnvironment().Build(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"WeatherAgent",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instructions: "GetWeather 도구로 날씨를 조회하고 자연스럽게 안내한다.",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tools: new Delegate[] { GetWeather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result = await agent.RunAsync("서울 날씨 어때?");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Console.WriteLine(result.Text);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39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4.5 여러 Tool 동시 등록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알아서 필요한 도구를 골라 순서대로 호출한다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agent = AIAgentBuilder.FromEnvironment().Build(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"MultiToolAgent",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instructions: @"질문에 맞는 도구를 선택해 사용한다.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필요하면 여러 도구를 함께 호출해도 된다.",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tools: new Delegate[]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GetWeather,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GetCurrentTime,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CalculateDistance,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GetExchangeRate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'서울 날씨랑 시간 둘 다 알려줘' → 두 도구 자동 호출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agent.RunAsync("서울 날씨랑 현재 시간 알려줘");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4.6 외부 API 연동 Tool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OpenWeatherMap 같은 실제 서비스를 호출하는 비동기 도구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/// &lt;summary&gt;OpenWeatherMap API로 실시간 날씨를 조회한다.&lt;/summary&gt;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/// &lt;param name="city"&gt;도시 이름 (한글 또는 영어)&lt;/param&gt;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Task&lt;string&gt; GetRealWeather(string city)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url = $"https://api.openweathermap.org/data/2.5/weather" +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$"?q={city}&amp;appid={apiKey}&amp;units=metric&amp;lang=kr";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resp = await httpClient.GetFromJsonAsync&lt;WeatherResponse&gt;(url);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(resp == null) return $"{city} 날씨 정보를 가져올 수 없다.";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$"{resp.name}: {resp.weather[0].description}, " +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$"{resp.main.temp:F1}°C (체감 {resp.main.feels_like:F1}°C)";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41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4.7 API 호출 캐싱으로 비용 절약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인자에 대한 결과를 짧은 시간 동안 재사용한다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간단한 메모리 캐시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cache = new Dictionary&lt;string, (string data, DateTime expires)&gt;();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Task&lt;string&gt; GetWeatherCached(string city)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(cache.TryGetValue(city, out var c) &amp;&amp; c.expires &gt; DateTime.Now)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c.data;  // 캐시 히트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data = await GetRealWeather(city);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cache[city] = (data, DateTime.Now.AddMinutes(5));  // 5분 유효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data;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6400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93192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흐름 관리 - Thread와 메모리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931920" y="260604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질의 응답을 넘어 '이전 대화를 기억하는' Agent를 만든다.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Thread로 단기 기억, Context Provider로 장기 기억을 다루며, 긴 대화에서 토큰 비용이 폭발하는 것을 막는 컨텍스트 압축 전략까지 익힌다.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 / 94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5.1 컨텍스트가 없으면 대화가 안 된다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대화를 기억해야 '거기', '그것' 같은 대명사를 이해한다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4023360" cy="310896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Thread 없을 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사용자: 서울 날씨 어때?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Agent: 서울은 맑고 22도입니다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사용자: 거기 비 올까?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Agent: ??? (어디인지 모름)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023360" cy="310896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84632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Thread 사용 시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87452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사용자: 서울 날씨 어때?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Agent: 서울은 맑고 22도입니다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사용자: 거기 비 올까?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Agent: 서울은 오늘 비 예보가 없습니다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44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5.2 Thread - 대화의 기억 컨테이너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메시지·발화자·시간 순서·도구 호출 기록을 보관한다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371600" y="1371600"/>
            <a:ext cx="6400800" cy="3108960"/>
          </a:xfrm>
          <a:prstGeom prst="rect">
            <a:avLst/>
          </a:prstGeom>
          <a:solidFill>
            <a:srgbClr val="F8FAFC"/>
          </a:solidFill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371600" y="1417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Thread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554480" y="1828800"/>
            <a:ext cx="73152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554480" y="1920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77440" y="1828800"/>
            <a:ext cx="5212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46888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날씨 어때?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554480" y="2423160"/>
            <a:ext cx="73152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554480" y="2514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377440" y="2423160"/>
            <a:ext cx="5212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246888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서울은 맑고 22도입니다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554480" y="3017520"/>
            <a:ext cx="73152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1554480" y="3108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77440" y="3017520"/>
            <a:ext cx="5212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2468880" y="3063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거기 비 올까?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554480" y="3611880"/>
            <a:ext cx="73152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1554480" y="3703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77440" y="3611880"/>
            <a:ext cx="52120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2468880" y="3657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서울은 오늘 비 예보가 없습니다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5.3 Thread로 멀티턴 대화 구현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agent.RunAsync(input, thread) 한 줄이 핵심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agent = AIAgentBuilder.FromEnvironment().Build(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"MemoryAgent",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instructions: "이전 대화를 기억하고 자연스럽게 이어간다."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thread = agent.CreateThread();   // 컨텍스트 컨테이너 생성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conversation = new[]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"내 이름은 김철수야",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"서울 날씨가 어때?",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"거기 내일은 어떨까?",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"내 이름이 뭐였지?"     // 첫 메시지를 기억해서 답한다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(var msg in conversation)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r = await agent.RunAsync(msg, thread);   // 같은 thread 전달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Console.WriteLine($"Agent: {r.Text}");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5.4 단기 메모리 vs 장기 메모리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Thread는 세션 단위, Context Provider는 영구 저장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402336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단기 메모리 - Thread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대화 내용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세션 맥락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질문/답변/도구 호출 기록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종료 시 사라짐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비용에 직접 영향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023360" cy="310896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장기 메모리 - Context Provider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87452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이름, 직업, 선호도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세션의 핵심 사실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파일 / DB로 영구 저장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 시작 시 다시 주입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Instructions에 합쳐 LLM에 전달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5.5 간단한 장기 메모리 구현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파일로 사용자 프로필을 저장한다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UserProfile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string? Name { get; set;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string? Occupation { get; set;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List&lt;string&gt; Interests { get; set; } = new();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SimpleMemoryProvider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UserProfile _profile = new();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UserProfile Profile =&gt; _profile;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Save() =&gt; File.WriteAllText(_path, JsonSerializer.Serialize(_profile));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Load() { if (File.Exists(_path)) _profile = ...;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5.6 긴 대화의 컨텍스트 압축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Claude는 200K 토큰이지만 비용 때문에 적절히 압축한다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turnCount = 0;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(true)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... 입력 받기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result = await agent.RunAsync(input, thread);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turnCount++;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(turnCount % 20 == 0)   // 20턴마다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summary = await agent.RunAsync(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"지금까지 대화의 핵심을 3-5줄로 요약해줘.", thread);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thread = agent.CreateThread();   // 새 thread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await agent.RunAsync($"이전 대화 요약: {summary.Text}", thread);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6400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93192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고급 기능 활용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931920" y="260604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Streaming 응답으로 사용자 체감 속도를 끌어올리고, Extended Thinking으로 복잡한 추론의 정확도를 높인다.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또한 직접 만든 웹 검색 도구와, 로깅·필터·메트릭 같은 미들웨어 패턴을 도입한다.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 다루는 모든 기법은 Azure 없이 OpenRouter/Poe로 동작한다.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49 / 94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6.1 Streaming 응답이 주는 효과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체감 응답 시간을 수 초 → 0.x초 수준으로 단축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RunAsync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03120" y="1508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[─────────────────────────────] → 전체 응답 한 번에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1874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응답일수록 사용자가 멈춘 줄 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8229600" cy="96012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RunStreamAsync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2560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▌→ ▌▌ → ▌▌▌ → ... 실시간 글자 출력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글자가 거의 즉시 보이므로 체감 속도가 크게 개선된다.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8229600" cy="96012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66928" y="3593592"/>
            <a:ext cx="80101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foreach (var chunk in agent.RunStreamAsync("질문", thread))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(!string.IsNullOrEmpty(chunk.Text)) Console.Write(chunk.Text);</a:t>
            </a:r>
            <a:endParaRPr lang="en-US" sz="11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51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6.2 Extended Thinking - 답하기 전에 '생각'하게 한다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추론에서 정확도가 크게 향상된다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210312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agent = client.CreateAIAgent(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model: model,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"ThinkingAgent",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instructions: "복잡한 문제를 단계별로 신중하게 분석한다.",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defaultOptions: new Dictionary&lt;string, object&gt;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"max_tokens", 16000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 "thinking", new Dictionary&lt;string, object&gt;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 { "type", "enabled" }, { "budget_tokens", 8000 }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적합한 사용처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수학 계산, 다단계 추론, 코드 디버깅, 전략적 의사결정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비용 증가, 응답 지연 - 간단한 질문에는 끄는 편이 낫다</a:t>
            </a:r>
            <a:endParaRPr lang="en-US" sz="11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6.3 직접 만드는 웹 검색 Tool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DuckDuckGo 즉석 답변 API는 키 없이 호출 가능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/// &lt;summary&gt;DuckDuckGo로 웹 정보를 검색한다.&lt;/summary&gt;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Task&lt;string&gt; SearchWeb(string query)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url = $"https://api.duckduckgo.com/?q={Uri.EscapeDataString(query)}" +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"&amp;format=json&amp;no_redirect=1";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json = await httpClient.GetStringAsync(url);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doc = JsonDocument.Parse(json);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abstr = doc.RootElement.TryGetProperty("Abstract", out var a) ? a.GetString() : "";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ans   = doc.RootElement.TryGetProperty("Answer",   out var n) ? n.GetString() : "";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!string.IsNullOrEmpty(abstr) ? $"검색 결과: {abstr}"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: !string.IsNullOrEmpty(ans)   ? $"검색 결과: {ans}"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: "즉석 결과 없음 - 일반 지식으로 답변";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6.4 Middleware - Agent를 감싸는 래퍼 패턴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로깅 / 필터링 / 성능 측정 등 횡단 관심사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LoggingAgentWrapper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AIAgent _agent;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ILogger _logger;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async Task&lt;string&gt; RunAsync(string input, object? thread = null)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sw = Stopwatch.StartNew();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_logger.LogInformation("USER: {Input}", input);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var result = thread != null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? await _agent.RunAsync(input, thread)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: await _agent.RunAsync(input);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sw.Stop();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_logger.LogInformation("AGENT ({Ms}ms): {Text}", sw.ElapsedMilliseconds, result.Text);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result.Text;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catch (Exception ex) { _logger.LogError(ex, "Agent 실패"); throw;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6.5 자주 쓰는 Wrapper 3종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필요에 따라 조합하여 적용한다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73152" cy="9144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508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Logging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1828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입력, Agent 응답, 도구 호출, 응답 시간을 파일과 콘솔에 기록한다.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82296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73152" cy="9144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 Filter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민감한 단어가 들어오면 거절 응답을 반환하거나 LLM 호출 전에 차단한다.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73152" cy="9144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Metrics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시간, 응답 길이, 호출 수를 모아 평균/최대치를 보고한다.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6400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93192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실전 프로젝트 1 - 문서 질의응답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931920" y="260604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RAG(Retrieval Augmented Generation) 패턴을 사용하여 사용자가 올린 문서 내용에 근거해 답하는 Agent를 만든다.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로딩 → 청킹 → 키워드 검색 → 컨텍스트 주입 → 답변 생성의 표준 흐름과, 출처 명시·환각 방지 프롬프팅을 다룬다.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55 / 94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7.1 RAG 패턴이란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LLM의 지식 한계를 외부 문서로 보완하는 표준 기법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2697480" cy="1371600"/>
          </a:xfrm>
          <a:prstGeom prst="rect">
            <a:avLst/>
          </a:prstGeom>
          <a:solidFill>
            <a:srgbClr val="F8FAFC"/>
          </a:solidFill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16276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질문과 관련된 문서 청크 검색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508760"/>
            <a:ext cx="2697480" cy="1371600"/>
          </a:xfrm>
          <a:prstGeom prst="rect">
            <a:avLst/>
          </a:prstGeom>
          <a:solidFill>
            <a:srgbClr val="F8FAFC"/>
          </a:solidFill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383280" y="16276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Augmented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21031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청크를 프롬프트에 함께 넣음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508760"/>
            <a:ext cx="2697480" cy="1371600"/>
          </a:xfrm>
          <a:prstGeom prst="rect">
            <a:avLst/>
          </a:prstGeom>
          <a:solidFill>
            <a:srgbClr val="F8FAFC"/>
          </a:solidFill>
          <a:ln w="1905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217920" y="162763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21031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문서 기반으로 답변 생성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가치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정보 반영 - 학습 시점 이후 자료도 사용 가능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환각(hallucination) 감소 - 문서에 있는 내용만 답변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명시 가능 - 어느 부분에서 가져왔는지 보여줄 수 있음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7.2 문서 질의응답 시스템 아키텍처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DocumentManager + DocumentQAAgent 두 클래스로 구성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2743200" y="1371600"/>
            <a:ext cx="3657600" cy="5486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74320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2194560"/>
            <a:ext cx="6400800" cy="64008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1371600" y="21945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DocumentQAAgent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(질문 분석 → 청크 검색 → 컨텍스트 주입 → 답변 생성)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36576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DocumentManager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파일 로드 (TXT/PDF)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텍스트 청킹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키워드 검색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3108960"/>
            <a:ext cx="36576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029200" y="32004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(OpenRouter)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컨텍스트 이해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답변 생성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출처 인용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58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7.3 DocumentManager - 문서 로딩과 청킹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텍스트를 800자 단위로 잘라 100자 오버랩을 둔다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DocumentInfo LoadDocument(string filePath)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ext = Path.GetExtension(filePath).ToLower();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text = ext == ".pdf"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? ExtractPdfText(filePath)        // PdfPig 사용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: File.ReadAllText(filePath, Encoding.UTF8);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chunks = ChunkText(text, docId, fileName);  // 800자 + 100 overlap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_chunks.AddRange(chunks);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DocumentInfo(docId, fileName, filePath,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chunks.Count, text.Length);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59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7.4 청크 검색과 점수 계산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초보자용으로 간단한 키워드 매칭 사용 (벡터 검색은 후속)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List&lt;DocumentChunk&gt; SearchChunks(string query, int topK = 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queryTerms = Tokenize(query);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_chunks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.Select(c =&gt; new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Chunk = c,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Score = CalculateScore(c.Text, queryTerms)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.Where(x =&gt; x.Score &gt; 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.OrderByDescending(x =&gt; x.Score)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.Take(topK)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.Select(x =&gt; x.Chunk)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.ToList();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7.5 DocumentQAAgent - 답변 생성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검색된 청크를 prompt에 주입하고 인용 형태로 답하게 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Task&lt;QAResult&gt; AskAsync(string question)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chunks = _docManager.SearchChunks(question, topK: 5);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context = new StringBuilder();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context.AppendLine("=== 관련 문서 내용 ===");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foreach (var c in chunks)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context.AppendLine($"[출처: {c.FileName} #{c.ChunkIndex}]");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context.AppendLine(c.Text);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context.AppendLine("=== 질문 ===");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context.AppendLine(question);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answer = new StringBuilder();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foreach (var chunk in _agent.RunStreamAsync(context.ToString(), _thread))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answer.Append(chunk.Text);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 QAResult(answer.ToString(), chunks.Select(c =&gt; c.FileName).ToList());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61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7.6 환각 방지 시스템 프롬프트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Agent가 문서에 없는 내용을 만들어내지 않게 하는 4가지 규칙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6916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반드시 제공된 문서 내용만을 근거로 답변한다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문서에 없는 내용은 '문서에서 찾을 수 없습니다'라고 답변한다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답변 시 어느 부분에서 찾았는지 명확히 한다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문서 내용을 인용할 때는 따옴표를 사용한다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8229600" cy="155448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출력 예시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33756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질문: C#의 비동기 프로그래밍에 대해 설명해줘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답변: C#의 비동기 프로그래밍은 async/await 키워드를 사용한다.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문서에 따르면 "비동기 코드를 동기 코드처럼 작성할 수 있게 해준다."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주요 장점: 응답성 개선, 리소스 효율성, 확장성.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sample.txt (청크 #0)</a:t>
            </a:r>
            <a:endParaRPr lang="en-US" sz="11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6400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93192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실전 프로젝트 2 - 업무 자동화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931920" y="260604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관리, CSV 분석, 보고서 생성, 시스템 정보 같은 반복 업무를 자연어로 시키는 자동화 Agent를 만든다.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안전한 작업 디렉토리, 자동 백업, 로깅 같은 안전 장치를 함께 적용해 실제로 매일 쓸 수 있는 도구로 완성한다.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62 / 94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8.1 자동화 대상 4가지 영역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FileTools / DataTools / SystemTools / 보고서 생성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1993392" cy="2194560"/>
          </a:xfrm>
          <a:prstGeom prst="rect">
            <a:avLst/>
          </a:prstGeom>
          <a:solidFill>
            <a:srgbClr val="F8FAFC"/>
          </a:solidFill>
          <a:ln w="1524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1993392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4864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관리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192024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디렉토리 조회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읽기/쓰기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검색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백업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32888" y="1417320"/>
            <a:ext cx="1993392" cy="2194560"/>
          </a:xfrm>
          <a:prstGeom prst="rect">
            <a:avLst/>
          </a:prstGeom>
          <a:solidFill>
            <a:srgbClr val="F8FAFC"/>
          </a:solidFill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532888" y="1417320"/>
            <a:ext cx="1993392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2624328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처리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70048" y="192024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CSV 분석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계산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분석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변환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08576" y="1417320"/>
            <a:ext cx="1993392" cy="2194560"/>
          </a:xfrm>
          <a:prstGeom prst="rect">
            <a:avLst/>
          </a:prstGeom>
          <a:solidFill>
            <a:srgbClr val="F8FAFC"/>
          </a:solidFill>
          <a:ln w="1524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608576" y="1417320"/>
            <a:ext cx="1993392" cy="411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700016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보고서 생성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45736" y="192024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마크다운 문서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요약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템플릿 적용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생성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84264" y="1417320"/>
            <a:ext cx="1993392" cy="2194560"/>
          </a:xfrm>
          <a:prstGeom prst="rect">
            <a:avLst/>
          </a:prstGeom>
          <a:solidFill>
            <a:srgbClr val="F8FAFC"/>
          </a:solidFill>
          <a:ln w="1524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684264" y="1417320"/>
            <a:ext cx="1993392" cy="41148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775704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정보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21424" y="1920240"/>
            <a:ext cx="1783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디스크 사용량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시간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정보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프로세스 정보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4대 안전 원칙: 확인 요청 · 제한된 접근(작업 디렉토리만) · 자동 백업 · 모든 작업 로깅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8.2 FileTools 핵심 메서드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지정한 작업 디렉토리 안에서만 동작한다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FileTools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readonly string _workDir;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/// &lt;summary&gt;지정 디렉토리의 파일 목록을 조회한다.&lt;/summary&gt;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ListFiles(string pattern = "*.*") { ...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/// &lt;summary&gt;파일 내용을 읽는다 (최대 5000자).&lt;/summary&gt;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ReadFile(string fileName) { ...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/// &lt;summary&gt;파일에 쓴다. 기존 파일은 .backup 자동 생성.&lt;/summary&gt;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WriteFile(string fileName, string content) { ...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/// &lt;summary&gt;파일명 패턴 검색.&lt;/summary&gt;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SearchFiles(string keyword) { ...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8.3 DataTools - CSV / 텍스트 / 계산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CsvHelper로 헤더와 숫자 통계를 자동 산출한다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/// &lt;summary&gt;CSV 파일을 분석하고 기본 통계를 반환한다.&lt;/summary&gt;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string AnalyzeCsv(string fileName)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var reader = new StreamReader(path);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using var csv = new CsvReader(reader, CultureInfo.InvariantCulture);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records = csv.GetRecords&lt;dynamic&gt;().ToList();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foreach (var header in headers)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values = records.Select(...).Where(double.TryParse).ToList();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(values.Count &gt; 0)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sb.AppendLine($"  [{header}] 합계 {values.Sum():N2} / 평균 {values.Average():N2}");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sb.AppendLine($"           최소 {values.Min():N2} / 최대 {values.Max():N2}");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sb.ToString();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66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8.4 SystemTools - 환경/디스크/시간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OS 정보를 안전하게 노출하는 작은 헬퍼 모음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SystemTools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/// &lt;summary&gt;현재 날짜와 시간을 반환한다.&lt;/summary&gt;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GetCurrentTime()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$"현재 시간: {DateTime.Now:yyyy-MM-dd HH:mm:ss} (KST)";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/// &lt;summary&gt;현재 디스크 사용량 정보를 반환한다.&lt;/summary&gt;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GetDiskUsage() { ... DriveInfo.GetDrives() ... 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/// &lt;summary&gt;현재 실행 환경(.NET, OS, CPU 등)을 반환한다.&lt;/summary&gt;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GetSystemInfo()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=&gt; $"OS: {Environment.OSVersion}, .NET: {Environment.Version}, " +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$"CPU: {Environment.ProcessorCount}코어";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67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8.5 자동화 Agent 구성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 도구를 한 번에 등록하고 자연어 명령을 처리한다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agent = AIAgentBuilder.FromEnvironment().Build(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"AutomationAgent",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instructions: "FileTools, DataTools, SystemTools를 사용해 사용자의 요청을 수행한다.",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tools: new Delegate[]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fileTools.ListFiles, fileTools.ReadFile,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fileTools.WriteFile, fileTools.SearchFiles,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fileTools.GetWorkDirectory,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dataTools.AnalyzeCsv, dataTools.AnalyzeText, dataTools.Calculate,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sysTools.GetCurrentTime, sysTools.GetDiskUsage, sysTools.GetSystemInfo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68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8.6 자연어 명령 사용 예시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Agent가 적절한 도구를 알아서 호출한다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82296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4173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25880" y="1417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목록 보여줘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19202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25880" y="1920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sales.csv 파일 분석하고 가장 좋은 달 알려줘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423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25880" y="2423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시간 알려줘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29260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2588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디스크 사용량은?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34290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25880" y="3429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 5, 8, 3, 9 의 평균과 합계 계산해줘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0080" y="3931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25880" y="39319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날짜로 일일 보고서 파일 만들어줘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6400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93192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Multi-Agent Workflow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931920" y="260604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명의 만능 Agent보다 전문 분야를 가진 여러 Agent가 협업할 때 결과 품질이 높다.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 → 분석 → 작성 → 검토 같은 순차 워크플로우, 여러 관점을 동시에 보는 병렬 워크플로우, 복잡도에 따라 라우팅하는 조건부 워크플로우를 차례로 다룬다.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69 / 94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9.1 단일 Agent vs Multi-Agent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도구가 많아지면 단일 Agent로는 품질을 유지하기 어렵다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402336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Agent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→ 만능 Agent → 결과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도구가 많아지면 복잡도 폭발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단계 품질 들쭉날쭉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디버깅 어려움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 미만 도구에는 적합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023360" cy="310896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Multi-Agent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82880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Orchestrator가 여러 Agent 조율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Agent가 전문 분야 담당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명확한 책임 분리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재사용성 / 디버깅 용이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복잡한 작업과 장기 프로세스에 적합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71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9.2 4가지 Orchestration 패턴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필요에 따라 조합해서 사용한다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82296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91440" cy="6858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5087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Sequential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150876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→ B → C → D 순서대로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82296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91440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286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Parallel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22860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→ B와 A → C 동시 실행 후 합산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71800"/>
            <a:ext cx="82296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91440" cy="6858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0632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Conditional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26080" y="30632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결과에 따라 분기 (단순/복잡 라우팅)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82296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91440" cy="6858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40080" y="3840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Loop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26080" y="384048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통과까지 반복 (예: 검토 통과 시까지 재작성)</a:t>
            </a:r>
            <a:endParaRPr lang="en-US" sz="12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9.3 전문화 Agent 팩토리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역할별 instructions를 미리 정의한 정적 클래스로 관리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class AgentFactory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AIAgent CreateResearchAgent() =&gt;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AIAgentBuilder.FromEnvironment().Build("ResearchAgent",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"전문 연구원이다. 핵심 개념·관련 사실·다양한 관점을 정리한다.");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AIAgent CreateAnalystAgent() =&gt;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AIAgentBuilder.FromEnvironment().Build("AnalystAgent",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"전문 분석가다. 패턴·인과관계·트렌드에서 인사이트를 도출한다.");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AIAgent CreateWriterAgent() =&gt;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AIAgentBuilder.FromEnvironment().Build("WriterAgent",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"전문 작가다. 마크다운 보고서를 명확하게 작성한다.");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AIAgent CreateReviewerAgent() =&gt;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AIAgentBuilder.FromEnvironment().Build("ReviewerAgent",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"엄격한 검토자다. APPROVED 또는 NEEDS_REVISION을 반환한다.");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73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9.4 순차 Workflow - 보고서 생성 파이프라인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 결과가 NEEDS_REVISION이면 자동 재작성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1993392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연구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ResearchAgent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78608" y="1417320"/>
            <a:ext cx="1993392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670048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분석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70048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AnalystAgent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0016" y="1417320"/>
            <a:ext cx="1993392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791456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작성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91456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WriterAgent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21424" y="1417320"/>
            <a:ext cx="1993392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912864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검토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12864" y="19202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ReviewerAgent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788920"/>
            <a:ext cx="8229600" cy="17830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66928" y="2862072"/>
            <a:ext cx="8010144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research = await Run(_researcher, $"심층 연구해줘: {topic}");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analysis = await Run(_analyst,    $"인사이트 도출해줘:\n{research}");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report   = await Run(_writer,     $"마크다운 보고서:\n연구\n{research}\n분석\n{analysis}");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review   = await Run(_reviewer,   $"검토:\n{report}");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(review.Contains("NEEDS_REVISION"))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report = await Run(_writer, $"피드백 반영해 개선:\n{report}\n검토:\n{review}");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74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9.5 병렬 Workflow - Task.WhenAll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기술/비즈니스/리스크 3개 관점을 동시에 분석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techAgent = AIAgentBuilder.FromEnvironment()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.Build("TechAgent", "기술적 관점에서만 분석한다.");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bizAgent  = AIAgentBuilder.FromEnvironment()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.Build("BizAgent",  "비즈니스 관점에서만 분석한다.");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riskAgent = AIAgentBuilder.FromEnvironment()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.Build("RiskAgent", "리스크와 도전과제 관점에서만 분석한다.");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tasks = new[]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techAgent.RunAsync($"기술 분석: {topic}"),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bizAgent.RunAsync($"비즈니스 분석: {topic}"),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riskAgent.RunAsync($"리스크 분석: {topic}")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results = await Task.WhenAll(tasks);   // 동시 실행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synth = AIAgentBuilder.FromEnvironment()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.Build("SynthAgent", "여러 관점을 통합한다.");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final = await synth.RunAsync($"세 분석 통합: ...");</a:t>
            </a:r>
            <a:endParaRPr lang="en-US" sz="9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9.6 조건부 라우팅 Workflow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Router가 복잡도를 판단해 단순/복잡 Agent로 분기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_router = AIAgentBuilder.FromEnvironment().Build("RouterAgent",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"질문 복잡도를 SIMPLE 또는 COMPLEX 한 단어로 출력한다.");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_simpleAgent  = AIAgentBuilder.FromEnvironment()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.Build("SimpleAgent",  "간단하고 빠르게 핵심만 답변한다.");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_complexAgent = AIAgentBuilder.FromEnvironment()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.Build("ComplexAgent", "복잡한 문제를 단계별로 분석하는 전문가다.");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routing = await _router.RunAsync($"복잡도 판단: {question}");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isComplex = routing.Text.Contains("COMPLEX");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result = isComplex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? await _complexAgent.RunAsync(question)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await _simpleAgent.RunAsync(question);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6400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93192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프로덕션 준비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931920" y="260604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단계의 Agent를 실제 운영 환경에 안전하게 올리는 방법을 다룬다.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구조화된 로깅, Polly로 재시도, 타임아웃, 입력 검증, Rate Limiting, 응답 캐싱, 메트릭, 그리고 Docker 배포까지 — 운영자가 잠을 잘 수 있게 하는 항목들을 정리한다.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 / 94</a:t>
            </a:r>
            <a:endParaRPr lang="en-US" sz="9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77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10.1 구조화된 로깅 - Serilog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파일과 콘솔에 동시 기록, 일별 롤링과 30일 보관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Log.Logger = new LoggerConfiguration()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.MinimumLevel.Information()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.WriteTo.Console(outputTemplate: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"[{Timestamp:HH:mm:ss} {Level:u3}] {Message:lj}{NewLine}{Exception}")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.WriteTo.File("logs/agent-.log",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rollingInterval: RollingInterval.Day,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retainedFileCountLimit: 30,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outputTemplate: "[{Timestamp:yyyy-MM-dd HH:mm:ss} {Level:u3}] {Message:lj}")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.CreateLogger();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loggerFactory = LoggerFactory.Create(b =&gt; b.AddSerilog(Log.Logger));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logger = loggerFactory.CreateLogger&lt;Program&gt;();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logger.LogInformation("Agent 요청 | RequestId={Id} | Input={Len}자", id, len);</a:t>
            </a:r>
            <a:endParaRPr lang="en-US" sz="9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78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10.2 재시도 정책 - Polly + 지수 백오프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일시적 네트워크 오류는 자동으로 회복시킨다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_retryPolicy = Policy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.Handle&lt;HttpRequestException&gt;()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.Or&lt;TimeoutException&gt;()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.WaitAndRetryAsync(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retryCount: 3,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sleepDurationProvider: attempt =&gt;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TimeSpan.FromSeconds(Math.Pow(2, attempt)),  // 2s, 4s, 8s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onRetry: (ex, ts, attempt, ctx) =&gt;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_logger.LogWarning(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"재시도 {Attempt}/3 (대기 {Sec}s): {Err}",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attempt, ts.TotalSeconds, ex.Message));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await _retryPolicy.ExecuteAsync(async () =&gt;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result = await _agent.RunAsync(input);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result.Text;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79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10.3 우아한 에러 응답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코드별로 사용자가 이해할 수 있는 메시지를 돌려준다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 Task&lt;(string response, bool success)&gt; SafeRunAsync(string input)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return (await RunWithRetryAsync(input), true);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catch (HttpRequestException ex) when (ex.Message.Contains("401"))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_logger.LogError("API 키 오류");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("API 인증 실패. 관리자에게 문의하라.", false);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catch (HttpRequestException ex) when (ex.Message.Contains("429"))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("요청이 많다. 잠시 후 다시 시도하라.", false);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catch (TimeoutException)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("응답 시간이 초과되었다. 더 간단한 질문으로 시도하라.", false);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80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10.4 보안 3대 영역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키 / 입력 검증 / Rate Limiting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9144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키 관리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1828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.env / 환경 변수 / Secret Manager 사용. 코드 하드코딩과 git push 절대 금지.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822960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9144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유효성 검사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28346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10,000자 길이 제한. 'ignore previous instructions' 같은 prompt injection 차단.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91440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520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 Limiting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8404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요청 수와 분당 요청 수 제한. 비정상 트래픽 자동 차단.</a:t>
            </a:r>
            <a:endParaRPr lang="en-US" sz="12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10.5 성능 최적화 - 캐싱 + 배치 처리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질의 캐싱, 다수 요청은 chunk 단위로 묶기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응답 캐시 (10분 TTL)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CachedAgent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async Task&lt;string&gt; RunAsync(string input)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key = ComputeHash(input);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(_cache.TryGetValue(key, out var c) &amp;&amp; c.expires &gt; DateTime.Now)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c.response;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var r = await _agent.RunAsync(input);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_cache[key] = (r.Text, DateTime.Now.Add(_cacheDuration));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r.Text;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배치 처리 (5개씩, 1초 간격)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(var batch in inputs.Chunk(5))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tasks = batch.Select(x =&gt; agent.RunAsync(x));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results.AddRange((await Task.WhenAll(tasks)).Select(r =&gt; r.Text));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Task.Delay(1000);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82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10.6 Docker 배포 설정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변수는 절대 이미지에 포함하지 않고 런타임에 주입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mcr.microsoft.com/dotnet/runtime:9.0 AS base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mcr.microsoft.com/dotnet/sdk:9.0 AS build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/src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["ProductionAgent.csproj", "."]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dotnet restore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. 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dotnet publish -c Release -o /app/publish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base AS final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--from=build /app/publish 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LLM_BASE_URL=https://openrouter.ai/api/v1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 LLM_MODEL=anthropic/claude-sonnet-4-5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ENTRYPOINT ["dotnet", "ProductionAgent.dll"]</a:t>
            </a:r>
            <a:endParaRPr lang="en-US" sz="9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83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10.7 운영 메트릭과 헬스체크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Interlocked로 동시성 안전하게 카운팅한다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AgentMetrics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long _total, _success, _failed, _latencyMs;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RecordSuccess(long ms)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Interlocked.Increment(ref _total);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Interlocked.Increment(ref _success);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Interlocked.Add(ref _latencyMs, ms);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PrintReport() =&gt; Console.WriteLine($"""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총 요청: {_total:N0}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성공:   {_success:N0} ({100.0 * _success / _total:F1}%)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실패:   {_failed:N0}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평균 응답 시간: {_total &gt; 0 ? _latencyMs / _total : 0}ms""");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ASP.NET 헬스체크 엔드포인트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app.MapGet("/health", async (AIAgent a) =&gt; Results.Ok(new { status = "ok" }));</a:t>
            </a:r>
            <a:endParaRPr lang="en-US" sz="9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64008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931920" y="1645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고급 주제 - MCP / 모델 전환 / 실전 팁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931920" y="260604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MCP(Model Context Protocol) 서버를 직접 만들어 도구를 외부 프로세스로 분리한다.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OpenRouter 모델을 동적으로 선택하는 전략, 실패 시 다른 공급자로 자동 전환되는 Fallback, 그리고 Ollama 로컬 LLM 통합까지 - 실전 운영에 필요한 고급 기법들을 모은다.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 / 94</a:t>
            </a:r>
            <a:endParaRPr lang="en-US" sz="9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11.1 MCP (Model Context Protocol) 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Anthropic이 제안한 LLM-도구 연결 표준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4023360" cy="3108960"/>
          </a:xfrm>
          <a:prstGeom prst="rect">
            <a:avLst/>
          </a:prstGeom>
          <a:solidFill>
            <a:srgbClr val="F8FAFC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Tool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Agent와 동일 프로세스 내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직접 호출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단일 앱 내에서만 재사용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수정 시 재배포 필요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4023360" cy="3108960"/>
          </a:xfrm>
          <a:prstGeom prst="rect">
            <a:avLst/>
          </a:prstGeom>
          <a:solidFill>
            <a:srgbClr val="EFF6F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84632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 Tool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87452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프로세스 / 서버에서 실행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 프로토콜로 통신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Agent / 프레임워크에서 공유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도구만 독립 배포 가능</a:t>
            </a:r>
            <a:endParaRPr lang="en-US" sz="12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86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11.2 .NET으로 간단한 MCP 서버 만들기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 기반의 경량 구현 - tools 목록과 call 엔드포인트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builder = WebApplication.CreateBuilder(args);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app = builder.Build();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tools = new[]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name = "calculate",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description = "수학 계산을 수행한다.",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inputSchema = new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type = "object",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properties = new { expression = new { type = "string" }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required = new[] { "expression"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app.MapGet("/tools", () =&gt; new { tools });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app.MapPost("/tools/call", async (HttpContext ctx) =&gt; { ... });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app.Run("http://localhost:5100");</a:t>
            </a:r>
            <a:endParaRPr lang="en-US" sz="95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87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11.3 OpenRouter 동적 모델 선택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복잡도에 따라 비싼 모델/싼 모델을 자동 전환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enum TaskComplexity { Simple, Medium, Complex, Expert 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TaskComplexity Analyze(string prompt)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wordCount = prompt.Split(' ').Length;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hasCode    = prompt.Contains("코드")  || prompt.Contains("구현");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 hasAnalysis = prompt.Contains("분석") || prompt.Contains("비교");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((hasCode || hasAnalysis) &amp;&amp; wordCount &gt; 30) return TaskComplexity.Complex;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(wordCount &gt; 20 || hasCode  || hasAnalysis)   return TaskComplexity.Medium;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TaskComplexity.Simple;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Simple → Haiku, Medium → Sonnet, Complex → Opus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model = ModelSelector.GetModel(complexity);</a:t>
            </a:r>
            <a:endParaRPr lang="en-US" sz="9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88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11.4 Fallback 전략으로 안정성 향상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공급자가 실패하면 다음 공급자로 자동 전환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31089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agent = new FallbackAgentBuilder(apiKey)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.AddProvider("https://openrouter.ai/api/v1", "anthropic/claude-sonnet-4-5")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.AddProvider("https://openrouter.ai/api/v1", "openai/gpt-4o-mini")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.AddProvider("https://api.poe.com/llm/v1",   "claude-haiku-4-20250514")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.Build("FallbackAgent", "신뢰할 수 있는 어시스턴트다.");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첫 번째 모델 실패 → 다음 모델로 자동 시도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모든 모델 실패해야만 예외 throw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result = await agent.RunAsync("AI 에이전트의 장점 3가지를 말해줘");</a:t>
            </a:r>
            <a:endParaRPr lang="en-US" sz="95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89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11.5 Ollama로 로컬 LLM 사용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인터넷 없이 비공개 환경에서 Agent를 돌릴 수 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146304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66928" y="1444752"/>
            <a:ext cx="80101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Ollama 설치 후 모델 받기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llama3.2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mistral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serve   # 기본 11434 포트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155448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66928" y="2999232"/>
            <a:ext cx="801014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agent = AIAgentBuilder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.Create("ollama", "http://localhost:11434/v1", "llama3.2")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.Build("LocalAgent", "로컬에서 실행되는 비공개 어시스턴트다.");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result = await agent.RunAsync("머신러닝과 딥러닝의 차이를 설명해줘");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11.6 실전 운영 5대 팁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여기까지 오신 분에게 드리는 압축 노하우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73152" cy="5486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 1. 시스템 프롬프트 구체화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1463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역할/규칙/제약을 한 줄씩 명확하게. 모호한 지시는 품질 저하의 1순위.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2011680"/>
            <a:ext cx="73152" cy="5486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 2. Thread 재사용 vs 초기화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주제가 이어지면 thread 유지, 새 주제는 CreateThread() 호출로 깨끗이.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73152" cy="5486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 3. Tool XML 주석 충분히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0" y="2743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함수명만 의미 있게는 부족하다. 파라미터 예시까지 작성한다.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73152" cy="5486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40080" y="3383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 4. 캐싱으로 비용 절약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0" y="3383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FAQ형 질의는 SHA256 키 기반으로 캐싱. 토큰 비용이 크게 준다.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57200" y="3931920"/>
            <a:ext cx="73152" cy="5486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40080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40A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Tip 5. 응답 품질 검증 루프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0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형식이 깨지면 max 3회 재시도. 사용자 노출 전 형식 자동 검사.</a:t>
            </a:r>
            <a:endParaRPr lang="en-US" sz="11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아키텍처 정리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여기까지 만든 모든 것을 한 장에 다시 본다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14904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7465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Single Agent · Multi-Agent · Production API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75688"/>
            <a:ext cx="8229600" cy="594360"/>
          </a:xfrm>
          <a:prstGeom prst="rect">
            <a:avLst/>
          </a:prstGeom>
          <a:solidFill>
            <a:srgbClr val="1E40A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" y="2148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AIAgentBuilder (Shared)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4048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FromEnvironment / WithOpenRouter / WithPoe → Build(name, instructions, tools[])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34056"/>
            <a:ext cx="8229600" cy="594360"/>
          </a:xfrm>
          <a:prstGeom prst="rect">
            <a:avLst/>
          </a:prstGeom>
          <a:solidFill>
            <a:srgbClr val="0891B2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" y="28072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Microsoft.Agents.AI.OpenAI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063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OpenAIAgentClient → AIAgent → RunAsync / RunStreamAsync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392424"/>
            <a:ext cx="822960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46557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Model Provider Layer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7216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OpenRouter · Poe · Ollama (모두 OpenAI 호환)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.env 파일 한 줄만 바꾸면 OpenRouter ↔ Poe ↔ Ollama 자유 전환이 가능하다.</a:t>
            </a:r>
            <a:endParaRPr lang="en-US" sz="1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92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11개 챕터 한 줄 요약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복습 체크리스트로도 사용한다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40690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50292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1463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환경 준비 (.NET / VSCode / OpenRouter or Poe / .env)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920240"/>
            <a:ext cx="40690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1920240"/>
            <a:ext cx="50292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7200" y="1920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1965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 · Tool · Thread 핵심 개념과 모델 선택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423160"/>
            <a:ext cx="40690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2423160"/>
            <a:ext cx="50292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7200" y="2423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2468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AIAgentBuilder로 첫 Agent와 멀티턴 대화 구현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2926080"/>
            <a:ext cx="40690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50292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7200" y="2926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2971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Tools 등록과 외부 API 연동, XML 주석 작성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429000"/>
            <a:ext cx="40690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57200" y="3429000"/>
            <a:ext cx="50292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" y="3429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Thread 단기 메모리, Provider 장기 메모리, 컨텍스트 압축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40690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57200" y="3931920"/>
            <a:ext cx="50292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57200" y="39319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51560" y="39776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Streaming, Extended Thinking, 미들웨어 패턴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17720" y="1417320"/>
            <a:ext cx="40690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617720" y="1417320"/>
            <a:ext cx="50292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617720" y="141732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212080" y="1463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 패턴 - 문서 기반 질의응답 시스템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617720" y="1920240"/>
            <a:ext cx="40690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4617720" y="1920240"/>
            <a:ext cx="50292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617720" y="19202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212080" y="1965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FileTools / DataTools / SystemTools 자동화 Agent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617720" y="2423160"/>
            <a:ext cx="40690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4617720" y="2423160"/>
            <a:ext cx="50292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617720" y="242316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212080" y="2468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순차/병렬/조건부 Multi-Agent Workflow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617720" y="2926080"/>
            <a:ext cx="40690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4617720" y="2926080"/>
            <a:ext cx="50292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617720" y="29260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212080" y="2971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로깅 · 재시도 · 보안 · 캐싱 · Docker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617720" y="3429000"/>
            <a:ext cx="406908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4617720" y="3429000"/>
            <a:ext cx="502920" cy="4572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4617720" y="3429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212080" y="3474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 · 모델 동적 선택 · Fallback · Ollama</a:t>
            </a:r>
            <a:endParaRPr lang="en-US" sz="105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8732520" y="22860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93 / 94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3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단계로 추천하는 학습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자료를 마친 분께 드리는 후속 추천 과제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73152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40080" y="14630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벡터 검색으로 RAG 업그레이드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0" y="14630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매칭 → Embedding 기반 의미 검색 (Microsoft.Extensions.AI.Embeddings)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2011680"/>
            <a:ext cx="73152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0080" y="2057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ASP.NET Core API로 감싸기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20574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Agent를 REST API로 노출하고 웹/모바일 클라이언트와 연결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06040"/>
            <a:ext cx="8229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2606040"/>
            <a:ext cx="73152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2651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OpenTelemetry 통합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931920" y="26517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분산 추적과 메트릭으로 운영 가시성 확보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73152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40080" y="3246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 표준 SDK 사용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31920" y="32461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만든 HTTP 서버 대신 공식 MCP SDK로 표준 호환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57200" y="3794760"/>
            <a:ext cx="73152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40080" y="38404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서버 도메인 적용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0" y="38404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23년 경력의 강점 살려 ECS/룸 매니저/스케줄러 자동화에 활용</a:t>
            </a:r>
            <a:endParaRPr lang="en-US" sz="11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3657600"/>
            <a:ext cx="914400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자신만의 AI Agent를 만들 차례다.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D2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Microsoft Agent Framework 학습 가이드  |  최흥배, Claude AI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업데이트 2026-05  |  C# &amp; VSCode + OpenRouter / Poe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9986</Words>
  <Application>Microsoft Office PowerPoint</Application>
  <PresentationFormat>화면 슬라이드 쇼(16:9)</PresentationFormat>
  <Paragraphs>1666</Paragraphs>
  <Slides>94</Slides>
  <Notes>94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94</vt:i4>
      </vt:variant>
    </vt:vector>
  </HeadingPairs>
  <TitlesOfParts>
    <vt:vector size="98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Agent Framework 학습 가이드</dc:title>
  <dc:subject>PptxGenJS Presentation</dc:subject>
  <dc:creator>최흥배, Claude AI</dc:creator>
  <cp:lastModifiedBy>흥배 최</cp:lastModifiedBy>
  <cp:revision>3</cp:revision>
  <dcterms:created xsi:type="dcterms:W3CDTF">2026-05-07T09:43:23Z</dcterms:created>
  <dcterms:modified xsi:type="dcterms:W3CDTF">2026-05-09T03:36:53Z</dcterms:modified>
</cp:coreProperties>
</file>